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1999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566928" y="53035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200" b="1">
                <a:solidFill>
                  <a:srgbClr val="98A2B3"/>
                </a:solidFill>
                <a:latin typeface="Microsoft YaHei"/>
                <a:ea typeface="Microsoft YaHei"/>
              </a:rPr>
              <a:t>EDGE INT8 INFERENCE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66928" y="1115568"/>
            <a:ext cx="521208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600" b="1">
                <a:solidFill>
                  <a:srgbClr val="FFFFFF"/>
                </a:solidFill>
                <a:latin typeface="Microsoft YaHei"/>
                <a:ea typeface="Microsoft YaHei"/>
              </a:rPr>
              <a:t>RV32I 自定义指令</a:t>
            </a:r>
          </a:p>
          <a:p>
            <a:pPr algn="l"/>
            <a:r>
              <a:rPr lang="zh-CN" sz="3600" b="1">
                <a:solidFill>
                  <a:srgbClr val="FFFFFF"/>
                </a:solidFill>
                <a:latin typeface="Microsoft YaHei"/>
                <a:ea typeface="Microsoft YaHei"/>
              </a:rPr>
              <a:t>CNN 加速器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94360" y="2862072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 b="0">
                <a:solidFill>
                  <a:srgbClr val="D0D5DD"/>
                </a:solidFill>
                <a:latin typeface="Microsoft YaHei"/>
                <a:ea typeface="Microsoft YaHei"/>
              </a:rPr>
              <a:t>Depthwise-separable CNN datapath</a:t>
            </a:r>
          </a:p>
          <a:p>
            <a:pPr algn="l"/>
            <a:r>
              <a:rPr lang="zh-CN" sz="1700" b="0">
                <a:solidFill>
                  <a:srgbClr val="D0D5DD"/>
                </a:solidFill>
                <a:latin typeface="Microsoft YaHei"/>
                <a:ea typeface="Microsoft YaHei"/>
              </a:rPr>
              <a:t>for CIFAR-10 EdgeDSCNet-C10</a:t>
            </a:r>
          </a:p>
        </p:txBody>
      </p:sp>
      <p:sp>
        <p:nvSpPr>
          <p:cNvPr id="7" name="Shape"/>
          <p:cNvSpPr/>
          <p:nvPr/>
        </p:nvSpPr>
        <p:spPr>
          <a:xfrm>
            <a:off x="5486400" y="941832"/>
            <a:ext cx="1828800" cy="658368"/>
          </a:xfrm>
          <a:prstGeom prst="roundRect">
            <a:avLst/>
          </a:prstGeom>
          <a:solidFill>
            <a:srgbClr val="EAF6EF"/>
          </a:solidFill>
          <a:ln w="9525">
            <a:solidFill>
              <a:srgbClr val="A6D7B8"/>
            </a:solidFill>
          </a:ln>
        </p:spPr>
        <p:txBody>
          <a:bodyPr/>
          <a:lstStyle/>
          <a:p/>
        </p:txBody>
      </p:sp>
      <p:sp>
        <p:nvSpPr>
          <p:cNvPr id="8" name="Text"/>
          <p:cNvSpPr txBox="1"/>
          <p:nvPr/>
        </p:nvSpPr>
        <p:spPr>
          <a:xfrm>
            <a:off x="5559552" y="1014984"/>
            <a:ext cx="1682496" cy="5120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800" b="1">
                <a:solidFill>
                  <a:srgbClr val="14532D"/>
                </a:solidFill>
                <a:latin typeface="Microsoft YaHei"/>
                <a:ea typeface="Microsoft YaHei"/>
              </a:rPr>
              <a:t>1.09M</a:t>
            </a:r>
          </a:p>
          <a:p>
            <a:pPr algn="ctr"/>
            <a:r>
              <a:rPr lang="zh-CN" sz="1800" b="1">
                <a:solidFill>
                  <a:srgbClr val="14532D"/>
                </a:solidFill>
                <a:latin typeface="Microsoft YaHei"/>
                <a:ea typeface="Microsoft YaHei"/>
              </a:rPr>
              <a:t>RTL cycles</a:t>
            </a:r>
          </a:p>
        </p:txBody>
      </p:sp>
      <p:sp>
        <p:nvSpPr>
          <p:cNvPr id="9" name="Shape"/>
          <p:cNvSpPr/>
          <p:nvPr/>
        </p:nvSpPr>
        <p:spPr>
          <a:xfrm>
            <a:off x="7635240" y="941832"/>
            <a:ext cx="1920240" cy="658368"/>
          </a:xfrm>
          <a:prstGeom prst="roundRect">
            <a:avLst/>
          </a:prstGeom>
          <a:solidFill>
            <a:srgbClr val="EAF0FF"/>
          </a:solidFill>
          <a:ln w="9525">
            <a:solidFill>
              <a:srgbClr val="B7C9FF"/>
            </a:solidFill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7708392" y="1014984"/>
            <a:ext cx="1773936" cy="5120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800" b="1">
                <a:solidFill>
                  <a:srgbClr val="1D3D8F"/>
                </a:solidFill>
                <a:latin typeface="Microsoft YaHei"/>
                <a:ea typeface="Microsoft YaHei"/>
              </a:rPr>
              <a:t>100%</a:t>
            </a:r>
          </a:p>
          <a:p>
            <a:pPr algn="ctr"/>
            <a:r>
              <a:rPr lang="zh-CN" sz="1800" b="1">
                <a:solidFill>
                  <a:srgbClr val="1D3D8F"/>
                </a:solidFill>
                <a:latin typeface="Microsoft YaHei"/>
                <a:ea typeface="Microsoft YaHei"/>
              </a:rPr>
              <a:t>logit match</a:t>
            </a:r>
          </a:p>
        </p:txBody>
      </p:sp>
      <p:sp>
        <p:nvSpPr>
          <p:cNvPr id="11" name="Shape"/>
          <p:cNvSpPr/>
          <p:nvPr/>
        </p:nvSpPr>
        <p:spPr>
          <a:xfrm>
            <a:off x="9875520" y="941832"/>
            <a:ext cx="1691640" cy="658368"/>
          </a:xfrm>
          <a:prstGeom prst="roundRect">
            <a:avLst/>
          </a:prstGeom>
          <a:solidFill>
            <a:srgbClr val="FFF5E6"/>
          </a:solidFill>
          <a:ln w="9525">
            <a:solidFill>
              <a:srgbClr val="FFD89B"/>
            </a:solidFill>
          </a:ln>
        </p:spPr>
        <p:txBody>
          <a:bodyPr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9948672" y="1014984"/>
            <a:ext cx="1545336" cy="5120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800" b="1">
                <a:solidFill>
                  <a:srgbClr val="7A4100"/>
                </a:solidFill>
                <a:latin typeface="Microsoft YaHei"/>
                <a:ea typeface="Microsoft YaHei"/>
              </a:rPr>
              <a:t>314x</a:t>
            </a:r>
          </a:p>
          <a:p>
            <a:pPr algn="ctr"/>
            <a:r>
              <a:rPr lang="zh-CN" sz="1800" b="1">
                <a:solidFill>
                  <a:srgbClr val="7A4100"/>
                </a:solidFill>
                <a:latin typeface="Microsoft YaHei"/>
                <a:ea typeface="Microsoft YaHei"/>
              </a:rPr>
              <a:t>estimate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5394960" y="2148840"/>
            <a:ext cx="571500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800" b="0">
                <a:solidFill>
                  <a:srgbClr val="101828"/>
                </a:solidFill>
                <a:latin typeface="Microsoft YaHei"/>
                <a:ea typeface="Microsoft YaHei"/>
              </a:rPr>
              <a:t>CPU issues cnn.start, cnn.poll, and cnn.stat.</a:t>
            </a:r>
          </a:p>
          <a:p>
            <a:pPr algn="l"/>
            <a:r>
              <a:rPr lang="zh-CN" sz="1800" b="0">
                <a:solidFill>
                  <a:srgbClr val="101828"/>
                </a:solidFill>
                <a:latin typeface="Microsoft YaHei"/>
                <a:ea typeface="Microsoft YaHei"/>
              </a:rPr>
              <a:t>cnn_top fetches descriptors, runs Stem / DSBlock / GAP / FC,</a:t>
            </a:r>
          </a:p>
          <a:p>
            <a:pPr algn="l"/>
            <a:r>
              <a:rPr lang="zh-CN" sz="1800" b="0">
                <a:solidFill>
                  <a:srgbClr val="101828"/>
                </a:solidFill>
                <a:latin typeface="Microsoft YaHei"/>
                <a:ea typeface="Microsoft YaHei"/>
              </a:rPr>
              <a:t>and writes logits back for firmware argmax.</a:t>
            </a:r>
          </a:p>
        </p:txBody>
      </p:sp>
      <p:sp>
        <p:nvSpPr>
          <p:cNvPr id="14" name="Line"/>
          <p:cNvSpPr/>
          <p:nvPr/>
        </p:nvSpPr>
        <p:spPr>
          <a:xfrm>
            <a:off x="5394960" y="4023360"/>
            <a:ext cx="5394960" cy="22860"/>
          </a:xfrm>
          <a:prstGeom prst="rect">
            <a:avLst/>
          </a:prstGeom>
          <a:solidFill>
            <a:srgbClr val="98A2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5394960" y="4315968"/>
            <a:ext cx="53949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 b="1">
                <a:solidFill>
                  <a:srgbClr val="344054"/>
                </a:solidFill>
                <a:latin typeface="Microsoft YaHei"/>
                <a:ea typeface="Microsoft YaHei"/>
              </a:rPr>
              <a:t>交付物: 架构图、验证闭环图、综合尝试报告、6 页项目 PPT、已知限制与后续优化。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394960" y="6263640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200" b="0">
                <a:solidFill>
                  <a:srgbClr val="667085"/>
                </a:solidFill>
                <a:latin typeface="Microsoft YaHei"/>
                <a:ea typeface="Microsoft YaHei"/>
              </a:rPr>
              <a:t>rv32i_int8_dsc_cnn_accelerator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800" b="1">
                <a:solidFill>
                  <a:srgbClr val="101828"/>
                </a:solidFill>
                <a:latin typeface="Microsoft YaHei"/>
                <a:ea typeface="Microsoft YaHei"/>
              </a:rPr>
              <a:t>问题与目标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30352" y="758952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200" b="0">
                <a:solidFill>
                  <a:srgbClr val="667085"/>
                </a:solidFill>
                <a:latin typeface="Microsoft YaHei"/>
                <a:ea typeface="Microsoft YaHei"/>
              </a:rPr>
              <a:t>CPU-only int8 CNN 太慢，目标是让 RV32I 发起并监督硬件推理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85800" y="132588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800" b="1">
                <a:solidFill>
                  <a:srgbClr val="B42318"/>
                </a:solidFill>
                <a:latin typeface="Microsoft YaHei"/>
                <a:ea typeface="Microsoft YaHei"/>
              </a:rPr>
              <a:t>问题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731520" y="2011680"/>
            <a:ext cx="4023360" cy="2560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800" b="0">
                <a:solidFill>
                  <a:srgbClr val="344054"/>
                </a:solidFill>
                <a:latin typeface="Microsoft YaHei"/>
                <a:ea typeface="Microsoft YaHei"/>
              </a:rPr>
              <a:t>• RV32I 无乘法扩展时，CNN MAC 和 requant 成本很高</a:t>
            </a:r>
          </a:p>
          <a:p>
            <a:pPr algn="l"/>
            <a:r>
              <a:rPr lang="zh-CN" sz="1800" b="0">
                <a:solidFill>
                  <a:srgbClr val="344054"/>
                </a:solidFill>
                <a:latin typeface="Microsoft YaHei"/>
                <a:ea typeface="Microsoft YaHei"/>
              </a:rPr>
              <a:t>• DW/PW 中间 feature map 若频繁写外存，会浪费带宽</a:t>
            </a:r>
          </a:p>
          <a:p>
            <a:pPr algn="l"/>
            <a:r>
              <a:rPr lang="zh-CN" sz="1800" b="0">
                <a:solidFill>
                  <a:srgbClr val="344054"/>
                </a:solidFill>
                <a:latin typeface="Microsoft YaHei"/>
                <a:ea typeface="Microsoft YaHei"/>
              </a:rPr>
              <a:t>• CPU 接口不能长时间阻塞流水线 EX 阶段</a:t>
            </a:r>
          </a:p>
          <a:p>
            <a:pPr algn="l"/>
            <a:r>
              <a:rPr lang="zh-CN" sz="1800" b="0">
                <a:solidFill>
                  <a:srgbClr val="344054"/>
                </a:solidFill>
                <a:latin typeface="Microsoft YaHei"/>
                <a:ea typeface="Microsoft YaHei"/>
              </a:rPr>
              <a:t>• 验证必须覆盖 Python golden 到 CPU 联合仿真闭环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6446520" y="132588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800" b="1">
                <a:solidFill>
                  <a:srgbClr val="175CD3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6492240" y="2011680"/>
            <a:ext cx="4480560" cy="2560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800" b="0">
                <a:solidFill>
                  <a:srgbClr val="344054"/>
                </a:solidFill>
                <a:latin typeface="Microsoft YaHei"/>
                <a:ea typeface="Microsoft YaHei"/>
              </a:rPr>
              <a:t>• custom instruction 控制 cnn_top</a:t>
            </a:r>
          </a:p>
          <a:p>
            <a:pPr algn="l"/>
            <a:r>
              <a:rPr lang="zh-CN" sz="1800" b="0">
                <a:solidFill>
                  <a:srgbClr val="344054"/>
                </a:solidFill>
                <a:latin typeface="Microsoft YaHei"/>
                <a:ea typeface="Microsoft YaHei"/>
              </a:rPr>
              <a:t>• int8 activation / weight，int32 accumulator</a:t>
            </a:r>
          </a:p>
          <a:p>
            <a:pPr algn="l"/>
            <a:r>
              <a:rPr lang="zh-CN" sz="1800" b="0">
                <a:solidFill>
                  <a:srgbClr val="344054"/>
                </a:solidFill>
                <a:latin typeface="Microsoft YaHei"/>
                <a:ea typeface="Microsoft YaHei"/>
              </a:rPr>
              <a:t>• DW3x3 tile fusion，不写回完整 DW 中间图</a:t>
            </a:r>
          </a:p>
          <a:p>
            <a:pPr algn="l"/>
            <a:r>
              <a:rPr lang="zh-CN" sz="1800" b="0">
                <a:solidFill>
                  <a:srgbClr val="344054"/>
                </a:solidFill>
                <a:latin typeface="Microsoft YaHei"/>
                <a:ea typeface="Microsoft YaHei"/>
              </a:rPr>
              <a:t>• PW1x1 使用 8x8 array</a:t>
            </a:r>
          </a:p>
          <a:p>
            <a:pPr algn="l"/>
            <a:r>
              <a:rPr lang="zh-CN" sz="1800" b="0">
                <a:solidFill>
                  <a:srgbClr val="344054"/>
                </a:solidFill>
                <a:latin typeface="Microsoft YaHei"/>
                <a:ea typeface="Microsoft YaHei"/>
              </a:rPr>
              <a:t>• CIFAR-10 EdgeDSCNet-C10 fullnet smoke 与 golden 完全一致</a:t>
            </a:r>
          </a:p>
        </p:txBody>
      </p:sp>
      <p:sp>
        <p:nvSpPr>
          <p:cNvPr id="9" name="Shape"/>
          <p:cNvSpPr/>
          <p:nvPr/>
        </p:nvSpPr>
        <p:spPr>
          <a:xfrm>
            <a:off x="640080" y="5166360"/>
            <a:ext cx="10881360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713232" y="5532120"/>
            <a:ext cx="103327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2000" b="1">
                <a:solidFill>
                  <a:srgbClr val="101828"/>
                </a:solidFill>
                <a:latin typeface="Microsoft YaHei"/>
                <a:ea typeface="Microsoft YaHei"/>
              </a:rPr>
              <a:t>固定网络: Stem -&gt; 6x DSBlock -&gt; GAP -&gt; FC, 输出 10 类 logits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800" b="1">
                <a:solidFill>
                  <a:srgbClr val="101828"/>
                </a:solidFill>
                <a:latin typeface="Microsoft YaHei"/>
                <a:ea typeface="Microsoft YaHei"/>
              </a:rPr>
              <a:t>架构图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30352" y="758952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200" b="0">
                <a:solidFill>
                  <a:srgbClr val="667085"/>
                </a:solidFill>
                <a:latin typeface="Microsoft YaHei"/>
                <a:ea typeface="Microsoft YaHei"/>
              </a:rPr>
              <a:t>CPU 控制面与 cnn_top 数据面分离</a:t>
            </a:r>
          </a:p>
        </p:txBody>
      </p:sp>
      <p:sp>
        <p:nvSpPr>
          <p:cNvPr id="5" name="Shape"/>
          <p:cNvSpPr/>
          <p:nvPr/>
        </p:nvSpPr>
        <p:spPr>
          <a:xfrm>
            <a:off x="502920" y="1143000"/>
            <a:ext cx="1463040" cy="566928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0D5DD"/>
            </a:solidFill>
          </a:ln>
        </p:spPr>
        <p:txBody>
          <a:bodyPr/>
          <a:lstStyle/>
          <a:p/>
        </p:txBody>
      </p:sp>
      <p:sp>
        <p:nvSpPr>
          <p:cNvPr id="6" name="Text"/>
          <p:cNvSpPr txBox="1"/>
          <p:nvPr/>
        </p:nvSpPr>
        <p:spPr>
          <a:xfrm>
            <a:off x="576072" y="1216152"/>
            <a:ext cx="1316736" cy="42062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600" b="1">
                <a:solidFill>
                  <a:srgbClr val="101828"/>
                </a:solidFill>
                <a:latin typeface="Microsoft YaHei"/>
                <a:ea typeface="Microsoft YaHei"/>
              </a:rPr>
              <a:t>RV32I</a:t>
            </a:r>
          </a:p>
          <a:p>
            <a:pPr algn="ctr"/>
            <a:r>
              <a:rPr lang="zh-CN" sz="1600" b="1">
                <a:solidFill>
                  <a:srgbClr val="101828"/>
                </a:solidFill>
                <a:latin typeface="Microsoft YaHei"/>
                <a:ea typeface="Microsoft YaHei"/>
              </a:rPr>
              <a:t>CPU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2011680" y="129844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800" b="1">
                <a:solidFill>
                  <a:srgbClr val="47546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8" name="Shape"/>
          <p:cNvSpPr/>
          <p:nvPr/>
        </p:nvSpPr>
        <p:spPr>
          <a:xfrm>
            <a:off x="2423160" y="1143000"/>
            <a:ext cx="1828800" cy="566928"/>
          </a:xfrm>
          <a:prstGeom prst="roundRect">
            <a:avLst/>
          </a:prstGeom>
          <a:solidFill>
            <a:srgbClr val="EAF0FF"/>
          </a:solidFill>
          <a:ln w="9525">
            <a:solidFill>
              <a:srgbClr val="B7C9FF"/>
            </a:solidFill>
          </a:ln>
        </p:spPr>
        <p:txBody>
          <a:bodyPr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2496312" y="1216152"/>
            <a:ext cx="1682496" cy="42062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custom instruction</a:t>
            </a:r>
          </a:p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start / poll / stat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4343400" y="129844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800" b="1">
                <a:solidFill>
                  <a:srgbClr val="47546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1" name="Shape"/>
          <p:cNvSpPr/>
          <p:nvPr/>
        </p:nvSpPr>
        <p:spPr>
          <a:xfrm>
            <a:off x="4709160" y="1143000"/>
            <a:ext cx="1691640" cy="566928"/>
          </a:xfrm>
          <a:prstGeom prst="roundRect">
            <a:avLst/>
          </a:prstGeom>
          <a:solidFill>
            <a:srgbClr val="EAF6EF"/>
          </a:solidFill>
          <a:ln w="9525">
            <a:solidFill>
              <a:srgbClr val="A6D7B8"/>
            </a:solidFill>
          </a:ln>
        </p:spPr>
        <p:txBody>
          <a:bodyPr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4782312" y="1216152"/>
            <a:ext cx="1545336" cy="42062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300" b="1">
                <a:solidFill>
                  <a:srgbClr val="101828"/>
                </a:solidFill>
                <a:latin typeface="Microsoft YaHei"/>
                <a:ea typeface="Microsoft YaHei"/>
              </a:rPr>
              <a:t>npc bridge</a:t>
            </a:r>
          </a:p>
          <a:p>
            <a:pPr algn="ctr"/>
            <a:r>
              <a:rPr lang="zh-CN" sz="1300" b="1">
                <a:solidFill>
                  <a:srgbClr val="101828"/>
                </a:solidFill>
                <a:latin typeface="Microsoft YaHei"/>
                <a:ea typeface="Microsoft YaHei"/>
              </a:rPr>
              <a:t>rv_cnn_if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6446520" y="129844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800" b="1">
                <a:solidFill>
                  <a:srgbClr val="47546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4" name="Shape"/>
          <p:cNvSpPr/>
          <p:nvPr/>
        </p:nvSpPr>
        <p:spPr>
          <a:xfrm>
            <a:off x="6812280" y="868680"/>
            <a:ext cx="4480560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67085"/>
            </a:solidFill>
          </a:ln>
        </p:spPr>
        <p:txBody>
          <a:bodyPr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6885432" y="941832"/>
            <a:ext cx="4334256" cy="43799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2200" b="1">
                <a:solidFill>
                  <a:srgbClr val="101828"/>
                </a:solidFill>
                <a:latin typeface="Microsoft YaHei"/>
                <a:ea typeface="Microsoft YaHei"/>
              </a:rPr>
              <a:t>cnn_top</a:t>
            </a:r>
          </a:p>
        </p:txBody>
      </p:sp>
      <p:sp>
        <p:nvSpPr>
          <p:cNvPr id="16" name="Shape"/>
          <p:cNvSpPr/>
          <p:nvPr/>
        </p:nvSpPr>
        <p:spPr>
          <a:xfrm>
            <a:off x="7178040" y="1508760"/>
            <a:ext cx="1325880" cy="475488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0D5DD"/>
            </a:solidFill>
          </a:ln>
        </p:spPr>
        <p:txBody>
          <a:bodyPr/>
          <a:lstStyle/>
          <a:p/>
        </p:txBody>
      </p:sp>
      <p:sp>
        <p:nvSpPr>
          <p:cNvPr id="17" name="Text"/>
          <p:cNvSpPr txBox="1"/>
          <p:nvPr/>
        </p:nvSpPr>
        <p:spPr>
          <a:xfrm>
            <a:off x="7251192" y="1581912"/>
            <a:ext cx="1179576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100" b="1">
                <a:solidFill>
                  <a:srgbClr val="101828"/>
                </a:solidFill>
                <a:latin typeface="Microsoft YaHei"/>
                <a:ea typeface="Microsoft YaHei"/>
              </a:rPr>
              <a:t>descriptor</a:t>
            </a:r>
          </a:p>
          <a:p>
            <a:pPr algn="ctr"/>
            <a:r>
              <a:rPr lang="zh-CN" sz="1100" b="1">
                <a:solidFill>
                  <a:srgbClr val="101828"/>
                </a:solidFill>
                <a:latin typeface="Microsoft YaHei"/>
                <a:ea typeface="Microsoft YaHei"/>
              </a:rPr>
              <a:t>fetch</a:t>
            </a:r>
          </a:p>
        </p:txBody>
      </p:sp>
      <p:sp>
        <p:nvSpPr>
          <p:cNvPr id="18" name="Shape"/>
          <p:cNvSpPr/>
          <p:nvPr/>
        </p:nvSpPr>
        <p:spPr>
          <a:xfrm>
            <a:off x="8641080" y="1508760"/>
            <a:ext cx="1234440" cy="475488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0D5DD"/>
            </a:solidFill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8714232" y="1581912"/>
            <a:ext cx="1088136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100" b="1">
                <a:solidFill>
                  <a:srgbClr val="101828"/>
                </a:solidFill>
                <a:latin typeface="Microsoft YaHei"/>
                <a:ea typeface="Microsoft YaHei"/>
              </a:rPr>
              <a:t>top ctrl</a:t>
            </a:r>
          </a:p>
        </p:txBody>
      </p:sp>
      <p:sp>
        <p:nvSpPr>
          <p:cNvPr id="20" name="Shape"/>
          <p:cNvSpPr/>
          <p:nvPr/>
        </p:nvSpPr>
        <p:spPr>
          <a:xfrm>
            <a:off x="10012680" y="1508760"/>
            <a:ext cx="914400" cy="475488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0D5DD"/>
            </a:solidFill>
          </a:ln>
        </p:spPr>
        <p:txBody>
          <a:bodyPr/>
          <a:lstStyle/>
          <a:p/>
        </p:txBody>
      </p:sp>
      <p:sp>
        <p:nvSpPr>
          <p:cNvPr id="21" name="Text"/>
          <p:cNvSpPr txBox="1"/>
          <p:nvPr/>
        </p:nvSpPr>
        <p:spPr>
          <a:xfrm>
            <a:off x="10085832" y="1581912"/>
            <a:ext cx="768096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100" b="1">
                <a:solidFill>
                  <a:srgbClr val="101828"/>
                </a:solidFill>
                <a:latin typeface="Microsoft YaHei"/>
                <a:ea typeface="Microsoft YaHei"/>
              </a:rPr>
              <a:t>status</a:t>
            </a:r>
          </a:p>
        </p:txBody>
      </p:sp>
      <p:sp>
        <p:nvSpPr>
          <p:cNvPr id="22" name="Shape"/>
          <p:cNvSpPr/>
          <p:nvPr/>
        </p:nvSpPr>
        <p:spPr>
          <a:xfrm>
            <a:off x="7543800" y="2331720"/>
            <a:ext cx="2606040" cy="512064"/>
          </a:xfrm>
          <a:prstGeom prst="roundRect">
            <a:avLst/>
          </a:prstGeom>
          <a:solidFill>
            <a:srgbClr val="FFF5E6"/>
          </a:solidFill>
          <a:ln w="9525">
            <a:solidFill>
              <a:srgbClr val="FFD89B"/>
            </a:solidFill>
          </a:ln>
        </p:spPr>
        <p:txBody>
          <a:bodyPr/>
          <a:lstStyle/>
          <a:p/>
        </p:txBody>
      </p:sp>
      <p:sp>
        <p:nvSpPr>
          <p:cNvPr id="23" name="Text"/>
          <p:cNvSpPr txBox="1"/>
          <p:nvPr/>
        </p:nvSpPr>
        <p:spPr>
          <a:xfrm>
            <a:off x="7616952" y="2404872"/>
            <a:ext cx="245973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300" b="1">
                <a:solidFill>
                  <a:srgbClr val="101828"/>
                </a:solidFill>
                <a:latin typeface="Microsoft YaHei"/>
                <a:ea typeface="Microsoft YaHei"/>
              </a:rPr>
              <a:t>cnn_layer_runner</a:t>
            </a:r>
          </a:p>
        </p:txBody>
      </p:sp>
      <p:sp>
        <p:nvSpPr>
          <p:cNvPr id="24" name="Shape"/>
          <p:cNvSpPr/>
          <p:nvPr/>
        </p:nvSpPr>
        <p:spPr>
          <a:xfrm>
            <a:off x="7223760" y="3154680"/>
            <a:ext cx="1828800" cy="512064"/>
          </a:xfrm>
          <a:prstGeom prst="roundRect">
            <a:avLst/>
          </a:prstGeom>
          <a:solidFill>
            <a:srgbClr val="F0F9FF"/>
          </a:solidFill>
          <a:ln w="9525">
            <a:solidFill>
              <a:srgbClr val="B9E6FE"/>
            </a:solidFill>
          </a:ln>
        </p:spPr>
        <p:txBody>
          <a:bodyPr/>
          <a:lstStyle/>
          <a:p/>
        </p:txBody>
      </p:sp>
      <p:sp>
        <p:nvSpPr>
          <p:cNvPr id="25" name="Text"/>
          <p:cNvSpPr txBox="1"/>
          <p:nvPr/>
        </p:nvSpPr>
        <p:spPr>
          <a:xfrm>
            <a:off x="7296912" y="3227832"/>
            <a:ext cx="168249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SRAM A/B</a:t>
            </a:r>
          </a:p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ping-pong</a:t>
            </a:r>
          </a:p>
        </p:txBody>
      </p:sp>
      <p:sp>
        <p:nvSpPr>
          <p:cNvPr id="26" name="Shape"/>
          <p:cNvSpPr/>
          <p:nvPr/>
        </p:nvSpPr>
        <p:spPr>
          <a:xfrm>
            <a:off x="9372600" y="3154680"/>
            <a:ext cx="1554480" cy="512064"/>
          </a:xfrm>
          <a:prstGeom prst="roundRect">
            <a:avLst/>
          </a:prstGeom>
          <a:solidFill>
            <a:srgbClr val="FDF2FA"/>
          </a:solidFill>
          <a:ln w="9525">
            <a:solidFill>
              <a:srgbClr val="FCCEEE"/>
            </a:solidFill>
          </a:ln>
        </p:spPr>
        <p:txBody>
          <a:bodyPr/>
          <a:lstStyle/>
          <a:p/>
        </p:txBody>
      </p:sp>
      <p:sp>
        <p:nvSpPr>
          <p:cNvPr id="27" name="Text"/>
          <p:cNvSpPr txBox="1"/>
          <p:nvPr/>
        </p:nvSpPr>
        <p:spPr>
          <a:xfrm>
            <a:off x="9445752" y="3227832"/>
            <a:ext cx="140817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DW tile</a:t>
            </a:r>
          </a:p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buffer</a:t>
            </a:r>
          </a:p>
        </p:txBody>
      </p:sp>
      <p:sp>
        <p:nvSpPr>
          <p:cNvPr id="28" name="Shape"/>
          <p:cNvSpPr/>
          <p:nvPr/>
        </p:nvSpPr>
        <p:spPr>
          <a:xfrm>
            <a:off x="7223760" y="4069080"/>
            <a:ext cx="1234440" cy="4572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0D5DD"/>
            </a:solidFill>
          </a:ln>
        </p:spPr>
        <p:txBody>
          <a:bodyPr/>
          <a:lstStyle/>
          <a:p/>
        </p:txBody>
      </p:sp>
      <p:sp>
        <p:nvSpPr>
          <p:cNvPr id="29" name="Text"/>
          <p:cNvSpPr txBox="1"/>
          <p:nvPr/>
        </p:nvSpPr>
        <p:spPr>
          <a:xfrm>
            <a:off x="7296912" y="4142232"/>
            <a:ext cx="108813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100" b="0">
                <a:solidFill>
                  <a:srgbClr val="101828"/>
                </a:solidFill>
                <a:latin typeface="Microsoft YaHei"/>
                <a:ea typeface="Microsoft YaHei"/>
              </a:rPr>
              <a:t>Stem</a:t>
            </a:r>
          </a:p>
        </p:txBody>
      </p:sp>
      <p:sp>
        <p:nvSpPr>
          <p:cNvPr id="30" name="Shape"/>
          <p:cNvSpPr/>
          <p:nvPr/>
        </p:nvSpPr>
        <p:spPr>
          <a:xfrm>
            <a:off x="8613648" y="4069080"/>
            <a:ext cx="1143000" cy="4572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0D5DD"/>
            </a:solidFill>
          </a:ln>
        </p:spPr>
        <p:txBody>
          <a:bodyPr/>
          <a:lstStyle/>
          <a:p/>
        </p:txBody>
      </p:sp>
      <p:sp>
        <p:nvSpPr>
          <p:cNvPr id="31" name="Text"/>
          <p:cNvSpPr txBox="1"/>
          <p:nvPr/>
        </p:nvSpPr>
        <p:spPr>
          <a:xfrm>
            <a:off x="8686800" y="4142232"/>
            <a:ext cx="99669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100" b="0">
                <a:solidFill>
                  <a:srgbClr val="101828"/>
                </a:solidFill>
                <a:latin typeface="Microsoft YaHei"/>
                <a:ea typeface="Microsoft YaHei"/>
              </a:rPr>
              <a:t>DW3x3</a:t>
            </a:r>
          </a:p>
        </p:txBody>
      </p:sp>
      <p:sp>
        <p:nvSpPr>
          <p:cNvPr id="32" name="Shape"/>
          <p:cNvSpPr/>
          <p:nvPr/>
        </p:nvSpPr>
        <p:spPr>
          <a:xfrm>
            <a:off x="9921240" y="4069080"/>
            <a:ext cx="1143000" cy="4572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0D5DD"/>
            </a:solidFill>
          </a:ln>
        </p:spPr>
        <p:txBody>
          <a:bodyPr/>
          <a:lstStyle/>
          <a:p/>
        </p:txBody>
      </p:sp>
      <p:sp>
        <p:nvSpPr>
          <p:cNvPr id="33" name="Text"/>
          <p:cNvSpPr txBox="1"/>
          <p:nvPr/>
        </p:nvSpPr>
        <p:spPr>
          <a:xfrm>
            <a:off x="9994392" y="4142232"/>
            <a:ext cx="99669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100" b="0">
                <a:solidFill>
                  <a:srgbClr val="101828"/>
                </a:solidFill>
                <a:latin typeface="Microsoft YaHei"/>
                <a:ea typeface="Microsoft YaHei"/>
              </a:rPr>
              <a:t>PW8x8</a:t>
            </a:r>
          </a:p>
        </p:txBody>
      </p:sp>
      <p:sp>
        <p:nvSpPr>
          <p:cNvPr id="34" name="Shape"/>
          <p:cNvSpPr/>
          <p:nvPr/>
        </p:nvSpPr>
        <p:spPr>
          <a:xfrm>
            <a:off x="8275320" y="4709160"/>
            <a:ext cx="1051560" cy="420624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0D5DD"/>
            </a:solidFill>
          </a:ln>
        </p:spPr>
        <p:txBody>
          <a:bodyPr/>
          <a:lstStyle/>
          <a:p/>
        </p:txBody>
      </p:sp>
      <p:sp>
        <p:nvSpPr>
          <p:cNvPr id="35" name="Text"/>
          <p:cNvSpPr txBox="1"/>
          <p:nvPr/>
        </p:nvSpPr>
        <p:spPr>
          <a:xfrm>
            <a:off x="8348472" y="4782312"/>
            <a:ext cx="90525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100" b="0">
                <a:solidFill>
                  <a:srgbClr val="101828"/>
                </a:solidFill>
                <a:latin typeface="Microsoft YaHei"/>
                <a:ea typeface="Microsoft YaHei"/>
              </a:rPr>
              <a:t>GAP</a:t>
            </a:r>
          </a:p>
        </p:txBody>
      </p:sp>
      <p:sp>
        <p:nvSpPr>
          <p:cNvPr id="36" name="Shape"/>
          <p:cNvSpPr/>
          <p:nvPr/>
        </p:nvSpPr>
        <p:spPr>
          <a:xfrm>
            <a:off x="9555480" y="4709160"/>
            <a:ext cx="1051560" cy="420624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0D5DD"/>
            </a:solidFill>
          </a:ln>
        </p:spPr>
        <p:txBody>
          <a:bodyPr/>
          <a:lstStyle/>
          <a:p/>
        </p:txBody>
      </p:sp>
      <p:sp>
        <p:nvSpPr>
          <p:cNvPr id="37" name="Text"/>
          <p:cNvSpPr txBox="1"/>
          <p:nvPr/>
        </p:nvSpPr>
        <p:spPr>
          <a:xfrm>
            <a:off x="9628632" y="4782312"/>
            <a:ext cx="90525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100" b="0">
                <a:solidFill>
                  <a:srgbClr val="101828"/>
                </a:solidFill>
                <a:latin typeface="Microsoft YaHei"/>
                <a:ea typeface="Microsoft YaHei"/>
              </a:rPr>
              <a:t>FC</a:t>
            </a:r>
          </a:p>
        </p:txBody>
      </p:sp>
      <p:sp>
        <p:nvSpPr>
          <p:cNvPr id="38" name="Shape"/>
          <p:cNvSpPr/>
          <p:nvPr/>
        </p:nvSpPr>
        <p:spPr>
          <a:xfrm>
            <a:off x="685800" y="2880360"/>
            <a:ext cx="228600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txBody>
          <a:bodyPr/>
          <a:lstStyle/>
          <a:p/>
        </p:txBody>
      </p:sp>
      <p:sp>
        <p:nvSpPr>
          <p:cNvPr id="39" name="Text"/>
          <p:cNvSpPr txBox="1"/>
          <p:nvPr/>
        </p:nvSpPr>
        <p:spPr>
          <a:xfrm>
            <a:off x="758952" y="2953512"/>
            <a:ext cx="2139696" cy="4480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300" b="0">
                <a:solidFill>
                  <a:srgbClr val="101828"/>
                </a:solidFill>
                <a:latin typeface="Microsoft YaHei"/>
                <a:ea typeface="Microsoft YaHei"/>
              </a:rPr>
              <a:t>Descriptor memory</a:t>
            </a:r>
          </a:p>
          <a:p>
            <a:pPr algn="ctr"/>
            <a:r>
              <a:rPr lang="zh-CN" sz="1300" b="0">
                <a:solidFill>
                  <a:srgbClr val="101828"/>
                </a:solidFill>
                <a:latin typeface="Microsoft YaHei"/>
                <a:ea typeface="Microsoft YaHei"/>
              </a:rPr>
              <a:t>32 words/layer</a:t>
            </a:r>
          </a:p>
        </p:txBody>
      </p:sp>
      <p:sp>
        <p:nvSpPr>
          <p:cNvPr id="40" name="Shape"/>
          <p:cNvSpPr/>
          <p:nvPr/>
        </p:nvSpPr>
        <p:spPr>
          <a:xfrm>
            <a:off x="685800" y="4069080"/>
            <a:ext cx="228600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  <p:txBody>
          <a:bodyPr/>
          <a:lstStyle/>
          <a:p/>
        </p:txBody>
      </p:sp>
      <p:sp>
        <p:nvSpPr>
          <p:cNvPr id="41" name="Text"/>
          <p:cNvSpPr txBox="1"/>
          <p:nvPr/>
        </p:nvSpPr>
        <p:spPr>
          <a:xfrm>
            <a:off x="758952" y="4142232"/>
            <a:ext cx="2139696" cy="4480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300" b="0">
                <a:solidFill>
                  <a:srgbClr val="101828"/>
                </a:solidFill>
                <a:latin typeface="Microsoft YaHei"/>
                <a:ea typeface="Microsoft YaHei"/>
              </a:rPr>
              <a:t>External memory</a:t>
            </a:r>
          </a:p>
          <a:p>
            <a:pPr algn="ctr"/>
            <a:r>
              <a:rPr lang="zh-CN" sz="1300" b="0">
                <a:solidFill>
                  <a:srgbClr val="101828"/>
                </a:solidFill>
                <a:latin typeface="Microsoft YaHei"/>
                <a:ea typeface="Microsoft YaHei"/>
              </a:rPr>
              <a:t>input / weights / logits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3154680" y="303580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800" b="1">
                <a:solidFill>
                  <a:srgbClr val="47546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3154680" y="422452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800" b="1">
                <a:solidFill>
                  <a:srgbClr val="47546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685800" y="598932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500" b="0">
                <a:solidFill>
                  <a:srgbClr val="344054"/>
                </a:solidFill>
                <a:latin typeface="Microsoft YaHei"/>
                <a:ea typeface="Microsoft YaHei"/>
              </a:rPr>
              <a:t>设计边界: DW 中间结果只进入 DW tile buffer；PW 直接消费 tile buffer；CPU 只通过命令和状态观察推理。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800" b="1">
                <a:solidFill>
                  <a:srgbClr val="101828"/>
                </a:solidFill>
                <a:latin typeface="Microsoft YaHei"/>
                <a:ea typeface="Microsoft YaHei"/>
              </a:rPr>
              <a:t>数据流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30352" y="758952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200" b="0">
                <a:solidFill>
                  <a:srgbClr val="667085"/>
                </a:solidFill>
                <a:latin typeface="Microsoft YaHei"/>
                <a:ea typeface="Microsoft YaHei"/>
              </a:rPr>
              <a:t>从输入图像到 logits 的模块流动</a:t>
            </a:r>
          </a:p>
        </p:txBody>
      </p:sp>
      <p:sp>
        <p:nvSpPr>
          <p:cNvPr id="5" name="Shape"/>
          <p:cNvSpPr/>
          <p:nvPr/>
        </p:nvSpPr>
        <p:spPr>
          <a:xfrm>
            <a:off x="411480" y="1965960"/>
            <a:ext cx="1115568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DD8"/>
            </a:solidFill>
          </a:ln>
        </p:spPr>
        <p:txBody>
          <a:bodyPr/>
          <a:lstStyle/>
          <a:p/>
        </p:txBody>
      </p:sp>
      <p:sp>
        <p:nvSpPr>
          <p:cNvPr id="6" name="Text"/>
          <p:cNvSpPr txBox="1"/>
          <p:nvPr/>
        </p:nvSpPr>
        <p:spPr>
          <a:xfrm>
            <a:off x="484632" y="2039112"/>
            <a:ext cx="969264" cy="6309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Input</a:t>
            </a:r>
          </a:p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NHWC int8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600200" y="221284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800" b="1">
                <a:solidFill>
                  <a:srgbClr val="47546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8" name="Shape"/>
          <p:cNvSpPr/>
          <p:nvPr/>
        </p:nvSpPr>
        <p:spPr>
          <a:xfrm>
            <a:off x="1847088" y="1965960"/>
            <a:ext cx="1115568" cy="777240"/>
          </a:xfrm>
          <a:prstGeom prst="roundRect">
            <a:avLst/>
          </a:prstGeom>
          <a:solidFill>
            <a:srgbClr val="EAF0FF"/>
          </a:solidFill>
          <a:ln w="9525">
            <a:solidFill>
              <a:srgbClr val="C7CDD8"/>
            </a:solidFill>
          </a:ln>
        </p:spPr>
        <p:txBody>
          <a:bodyPr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1920240" y="2039112"/>
            <a:ext cx="969264" cy="6309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Conv3x3</a:t>
            </a:r>
          </a:p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Stem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3035808" y="221284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800" b="1">
                <a:solidFill>
                  <a:srgbClr val="47546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1" name="Shape"/>
          <p:cNvSpPr/>
          <p:nvPr/>
        </p:nvSpPr>
        <p:spPr>
          <a:xfrm>
            <a:off x="3282696" y="1965960"/>
            <a:ext cx="1234440" cy="777240"/>
          </a:xfrm>
          <a:prstGeom prst="roundRect">
            <a:avLst/>
          </a:prstGeom>
          <a:solidFill>
            <a:srgbClr val="F0F9FF"/>
          </a:solidFill>
          <a:ln w="9525">
            <a:solidFill>
              <a:srgbClr val="C7CDD8"/>
            </a:solidFill>
          </a:ln>
        </p:spPr>
        <p:txBody>
          <a:bodyPr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3355848" y="2039112"/>
            <a:ext cx="1088136" cy="6309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SRAM</a:t>
            </a:r>
          </a:p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ping-pong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4590288" y="221284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800" b="1">
                <a:solidFill>
                  <a:srgbClr val="47546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4" name="Shape"/>
          <p:cNvSpPr/>
          <p:nvPr/>
        </p:nvSpPr>
        <p:spPr>
          <a:xfrm>
            <a:off x="4837176" y="1965960"/>
            <a:ext cx="1115568" cy="777240"/>
          </a:xfrm>
          <a:prstGeom prst="roundRect">
            <a:avLst/>
          </a:prstGeom>
          <a:solidFill>
            <a:srgbClr val="FFF5E6"/>
          </a:solidFill>
          <a:ln w="9525">
            <a:solidFill>
              <a:srgbClr val="C7CDD8"/>
            </a:solidFill>
          </a:ln>
        </p:spPr>
        <p:txBody>
          <a:bodyPr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4910328" y="2039112"/>
            <a:ext cx="969264" cy="6309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DW tile</a:t>
            </a:r>
          </a:p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fusion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025896" y="221284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800" b="1">
                <a:solidFill>
                  <a:srgbClr val="47546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7" name="Shape"/>
          <p:cNvSpPr/>
          <p:nvPr/>
        </p:nvSpPr>
        <p:spPr>
          <a:xfrm>
            <a:off x="6272783" y="1965960"/>
            <a:ext cx="1115568" cy="777240"/>
          </a:xfrm>
          <a:prstGeom prst="roundRect">
            <a:avLst/>
          </a:prstGeom>
          <a:solidFill>
            <a:srgbClr val="FDF2FA"/>
          </a:solidFill>
          <a:ln w="9525">
            <a:solidFill>
              <a:srgbClr val="C7CDD8"/>
            </a:solidFill>
          </a:ln>
        </p:spPr>
        <p:txBody>
          <a:bodyPr/>
          <a:lstStyle/>
          <a:p/>
        </p:txBody>
      </p:sp>
      <p:sp>
        <p:nvSpPr>
          <p:cNvPr id="18" name="Text"/>
          <p:cNvSpPr txBox="1"/>
          <p:nvPr/>
        </p:nvSpPr>
        <p:spPr>
          <a:xfrm>
            <a:off x="6345936" y="2039112"/>
            <a:ext cx="969264" cy="6309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DW tile</a:t>
            </a:r>
          </a:p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buffer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7461504" y="221284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800" b="1">
                <a:solidFill>
                  <a:srgbClr val="47546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0" name="Shape"/>
          <p:cNvSpPr/>
          <p:nvPr/>
        </p:nvSpPr>
        <p:spPr>
          <a:xfrm>
            <a:off x="7708392" y="1965960"/>
            <a:ext cx="1115568" cy="777240"/>
          </a:xfrm>
          <a:prstGeom prst="roundRect">
            <a:avLst/>
          </a:prstGeom>
          <a:solidFill>
            <a:srgbClr val="EAF6EF"/>
          </a:solidFill>
          <a:ln w="9525">
            <a:solidFill>
              <a:srgbClr val="C7CDD8"/>
            </a:solidFill>
          </a:ln>
        </p:spPr>
        <p:txBody>
          <a:bodyPr/>
          <a:lstStyle/>
          <a:p/>
        </p:txBody>
      </p:sp>
      <p:sp>
        <p:nvSpPr>
          <p:cNvPr id="21" name="Text"/>
          <p:cNvSpPr txBox="1"/>
          <p:nvPr/>
        </p:nvSpPr>
        <p:spPr>
          <a:xfrm>
            <a:off x="7781544" y="2039112"/>
            <a:ext cx="969264" cy="6309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PW 8x8</a:t>
            </a:r>
          </a:p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array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8897112" y="221284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800" b="1">
                <a:solidFill>
                  <a:srgbClr val="47546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3" name="Shape"/>
          <p:cNvSpPr/>
          <p:nvPr/>
        </p:nvSpPr>
        <p:spPr>
          <a:xfrm>
            <a:off x="9144000" y="1965960"/>
            <a:ext cx="1234440" cy="777240"/>
          </a:xfrm>
          <a:prstGeom prst="roundRect">
            <a:avLst/>
          </a:prstGeom>
          <a:solidFill>
            <a:srgbClr val="F0F9FF"/>
          </a:solidFill>
          <a:ln w="9525">
            <a:solidFill>
              <a:srgbClr val="C7CDD8"/>
            </a:solidFill>
          </a:ln>
        </p:spPr>
        <p:txBody>
          <a:bodyPr/>
          <a:lstStyle/>
          <a:p/>
        </p:txBody>
      </p:sp>
      <p:sp>
        <p:nvSpPr>
          <p:cNvPr id="24" name="Text"/>
          <p:cNvSpPr txBox="1"/>
          <p:nvPr/>
        </p:nvSpPr>
        <p:spPr>
          <a:xfrm>
            <a:off x="9217152" y="2039112"/>
            <a:ext cx="1088136" cy="6309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SRAM</a:t>
            </a:r>
          </a:p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ping-pong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10451592" y="221284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800" b="1">
                <a:solidFill>
                  <a:srgbClr val="47546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6" name="Shape"/>
          <p:cNvSpPr/>
          <p:nvPr/>
        </p:nvSpPr>
        <p:spPr>
          <a:xfrm>
            <a:off x="10698480" y="1965960"/>
            <a:ext cx="1115568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DD8"/>
            </a:solidFill>
          </a:ln>
        </p:spPr>
        <p:txBody>
          <a:bodyPr/>
          <a:lstStyle/>
          <a:p/>
        </p:txBody>
      </p:sp>
      <p:sp>
        <p:nvSpPr>
          <p:cNvPr id="27" name="Text"/>
          <p:cNvSpPr txBox="1"/>
          <p:nvPr/>
        </p:nvSpPr>
        <p:spPr>
          <a:xfrm>
            <a:off x="10771632" y="2039112"/>
            <a:ext cx="969264" cy="6309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GAP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11887200" y="221284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800" b="1">
                <a:solidFill>
                  <a:srgbClr val="47546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9" name="Shape"/>
          <p:cNvSpPr/>
          <p:nvPr/>
        </p:nvSpPr>
        <p:spPr>
          <a:xfrm>
            <a:off x="12134088" y="1965960"/>
            <a:ext cx="1115568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DD8"/>
            </a:solidFill>
          </a:ln>
        </p:spPr>
        <p:txBody>
          <a:bodyPr/>
          <a:lstStyle/>
          <a:p/>
        </p:txBody>
      </p:sp>
      <p:sp>
        <p:nvSpPr>
          <p:cNvPr id="30" name="Text"/>
          <p:cNvSpPr txBox="1"/>
          <p:nvPr/>
        </p:nvSpPr>
        <p:spPr>
          <a:xfrm>
            <a:off x="12207240" y="2039112"/>
            <a:ext cx="969264" cy="6309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FC</a:t>
            </a:r>
          </a:p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logits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960120" y="3429000"/>
            <a:ext cx="28346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500" b="0">
                <a:solidFill>
                  <a:srgbClr val="344054"/>
                </a:solidFill>
                <a:latin typeface="Microsoft YaHei"/>
                <a:ea typeface="Microsoft YaHei"/>
              </a:rPr>
              <a:t>Stem output writes SRAM A/B.</a:t>
            </a:r>
          </a:p>
          <a:p>
            <a:pPr algn="l"/>
            <a:r>
              <a:rPr lang="zh-CN" sz="1500" b="0">
                <a:solidFill>
                  <a:srgbClr val="344054"/>
                </a:solidFill>
                <a:latin typeface="Microsoft YaHei"/>
                <a:ea typeface="Microsoft YaHei"/>
              </a:rPr>
              <a:t>Next descriptor chooses SRAM input and output side.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4389120" y="342900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500" b="0">
                <a:solidFill>
                  <a:srgbClr val="344054"/>
                </a:solidFill>
                <a:latin typeface="Microsoft YaHei"/>
                <a:ea typeface="Microsoft YaHei"/>
              </a:rPr>
              <a:t>DW computes one tile with halo.</a:t>
            </a:r>
          </a:p>
          <a:p>
            <a:pPr algn="l"/>
            <a:r>
              <a:rPr lang="zh-CN" sz="1500" b="0">
                <a:solidFill>
                  <a:srgbClr val="344054"/>
                </a:solidFill>
                <a:latin typeface="Microsoft YaHei"/>
                <a:ea typeface="Microsoft YaHei"/>
              </a:rPr>
              <a:t>Padding uses input_zero_point.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8046720" y="3429000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500" b="0">
                <a:solidFill>
                  <a:srgbClr val="344054"/>
                </a:solidFill>
                <a:latin typeface="Microsoft YaHei"/>
                <a:ea typeface="Microsoft YaHei"/>
              </a:rPr>
              <a:t>PW consumes 8 pixels x 8 cout.</a:t>
            </a:r>
          </a:p>
          <a:p>
            <a:pPr algn="l"/>
            <a:r>
              <a:rPr lang="zh-CN" sz="1500" b="0">
                <a:solidFill>
                  <a:srgbClr val="344054"/>
                </a:solidFill>
                <a:latin typeface="Microsoft YaHei"/>
                <a:ea typeface="Microsoft YaHei"/>
              </a:rPr>
              <a:t>Requant + ReLU6 then store.</a:t>
            </a:r>
          </a:p>
        </p:txBody>
      </p:sp>
      <p:sp>
        <p:nvSpPr>
          <p:cNvPr id="34" name="Shape"/>
          <p:cNvSpPr/>
          <p:nvPr/>
        </p:nvSpPr>
        <p:spPr>
          <a:xfrm>
            <a:off x="4160520" y="1325880"/>
            <a:ext cx="3291840" cy="1874519"/>
          </a:xfrm>
          <a:prstGeom prst="roundRect">
            <a:avLst/>
          </a:prstGeom>
          <a:noFill/>
          <a:ln w="9525">
            <a:solidFill>
              <a:srgbClr val="F79009"/>
            </a:solidFill>
          </a:ln>
        </p:spPr>
        <p:txBody>
          <a:bodyPr/>
          <a:lstStyle/>
          <a:p/>
        </p:txBody>
      </p:sp>
      <p:sp>
        <p:nvSpPr>
          <p:cNvPr id="35" name="Text"/>
          <p:cNvSpPr txBox="1"/>
          <p:nvPr/>
        </p:nvSpPr>
        <p:spPr>
          <a:xfrm>
            <a:off x="4480560" y="144475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300" b="1">
                <a:solidFill>
                  <a:srgbClr val="B54708"/>
                </a:solidFill>
                <a:latin typeface="Microsoft YaHei"/>
                <a:ea typeface="Microsoft YaHei"/>
              </a:rPr>
              <a:t>DSBlock tile fusion region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822960" y="5257800"/>
            <a:ext cx="104241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800" b="1">
                <a:solidFill>
                  <a:srgbClr val="101828"/>
                </a:solidFill>
                <a:latin typeface="Microsoft YaHei"/>
                <a:ea typeface="Microsoft YaHei"/>
              </a:rPr>
              <a:t>当前 v1 输出写回格式: 每个 int8 output element 写入一个 32-bit word 的低 8 位，便于 RTL smoke 对比。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800" b="1">
                <a:solidFill>
                  <a:srgbClr val="101828"/>
                </a:solidFill>
                <a:latin typeface="Microsoft YaHei"/>
                <a:ea typeface="Microsoft YaHei"/>
              </a:rPr>
              <a:t>验证闭环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30352" y="758952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200" b="0">
                <a:solidFill>
                  <a:srgbClr val="667085"/>
                </a:solidFill>
                <a:latin typeface="Microsoft YaHei"/>
                <a:ea typeface="Microsoft YaHei"/>
              </a:rPr>
              <a:t>从训练模型到 CPU 联合仿真的同一组 int8 语义</a:t>
            </a:r>
          </a:p>
        </p:txBody>
      </p:sp>
      <p:sp>
        <p:nvSpPr>
          <p:cNvPr id="5" name="Shape"/>
          <p:cNvSpPr/>
          <p:nvPr/>
        </p:nvSpPr>
        <p:spPr>
          <a:xfrm>
            <a:off x="384048" y="1828800"/>
            <a:ext cx="1234440" cy="804672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C7CDD8"/>
            </a:solidFill>
          </a:ln>
        </p:spPr>
        <p:txBody>
          <a:bodyPr/>
          <a:lstStyle/>
          <a:p/>
        </p:txBody>
      </p:sp>
      <p:sp>
        <p:nvSpPr>
          <p:cNvPr id="6" name="Text"/>
          <p:cNvSpPr txBox="1"/>
          <p:nvPr/>
        </p:nvSpPr>
        <p:spPr>
          <a:xfrm>
            <a:off x="457200" y="1901952"/>
            <a:ext cx="1088136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PyTorch</a:t>
            </a:r>
          </a:p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train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682495" y="2093976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800" b="1">
                <a:solidFill>
                  <a:srgbClr val="47546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8" name="Shape"/>
          <p:cNvSpPr/>
          <p:nvPr/>
        </p:nvSpPr>
        <p:spPr>
          <a:xfrm>
            <a:off x="2048256" y="1828800"/>
            <a:ext cx="1234440" cy="804672"/>
          </a:xfrm>
          <a:prstGeom prst="roundRect">
            <a:avLst/>
          </a:prstGeom>
          <a:solidFill>
            <a:srgbClr val="EAF0FF"/>
          </a:solidFill>
          <a:ln w="9525">
            <a:solidFill>
              <a:srgbClr val="C7CDD8"/>
            </a:solidFill>
          </a:ln>
        </p:spPr>
        <p:txBody>
          <a:bodyPr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2121408" y="1901952"/>
            <a:ext cx="1088136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quantize</a:t>
            </a:r>
          </a:p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export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3346704" y="2093976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800" b="1">
                <a:solidFill>
                  <a:srgbClr val="47546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1" name="Shape"/>
          <p:cNvSpPr/>
          <p:nvPr/>
        </p:nvSpPr>
        <p:spPr>
          <a:xfrm>
            <a:off x="3712464" y="1828800"/>
            <a:ext cx="1234440" cy="804672"/>
          </a:xfrm>
          <a:prstGeom prst="roundRect">
            <a:avLst/>
          </a:prstGeom>
          <a:solidFill>
            <a:srgbClr val="EAF6EF"/>
          </a:solidFill>
          <a:ln w="9525">
            <a:solidFill>
              <a:srgbClr val="C7CDD8"/>
            </a:solidFill>
          </a:ln>
        </p:spPr>
        <p:txBody>
          <a:bodyPr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3785616" y="1901952"/>
            <a:ext cx="1088136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Python</a:t>
            </a:r>
          </a:p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int8 golden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5010912" y="2093976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800" b="1">
                <a:solidFill>
                  <a:srgbClr val="47546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4" name="Shape"/>
          <p:cNvSpPr/>
          <p:nvPr/>
        </p:nvSpPr>
        <p:spPr>
          <a:xfrm>
            <a:off x="5376672" y="1828800"/>
            <a:ext cx="1234440" cy="804672"/>
          </a:xfrm>
          <a:prstGeom prst="roundRect">
            <a:avLst/>
          </a:prstGeom>
          <a:solidFill>
            <a:srgbClr val="FFF5E6"/>
          </a:solidFill>
          <a:ln w="9525">
            <a:solidFill>
              <a:srgbClr val="C7CDD8"/>
            </a:solidFill>
          </a:ln>
        </p:spPr>
        <p:txBody>
          <a:bodyPr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5449824" y="1901952"/>
            <a:ext cx="1088136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RTL</a:t>
            </a:r>
          </a:p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modules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675120" y="2093976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800" b="1">
                <a:solidFill>
                  <a:srgbClr val="47546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7" name="Shape"/>
          <p:cNvSpPr/>
          <p:nvPr/>
        </p:nvSpPr>
        <p:spPr>
          <a:xfrm>
            <a:off x="7040880" y="1828800"/>
            <a:ext cx="1234440" cy="804672"/>
          </a:xfrm>
          <a:prstGeom prst="roundRect">
            <a:avLst/>
          </a:prstGeom>
          <a:solidFill>
            <a:srgbClr val="FDF2FA"/>
          </a:solidFill>
          <a:ln w="9525">
            <a:solidFill>
              <a:srgbClr val="C7CDD8"/>
            </a:solidFill>
          </a:ln>
        </p:spPr>
        <p:txBody>
          <a:bodyPr/>
          <a:lstStyle/>
          <a:p/>
        </p:txBody>
      </p:sp>
      <p:sp>
        <p:nvSpPr>
          <p:cNvPr id="18" name="Text"/>
          <p:cNvSpPr txBox="1"/>
          <p:nvPr/>
        </p:nvSpPr>
        <p:spPr>
          <a:xfrm>
            <a:off x="7114032" y="1901952"/>
            <a:ext cx="1088136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Verilator</a:t>
            </a:r>
          </a:p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simulation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8339328" y="2093976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800" b="1">
                <a:solidFill>
                  <a:srgbClr val="47546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0" name="Shape"/>
          <p:cNvSpPr/>
          <p:nvPr/>
        </p:nvSpPr>
        <p:spPr>
          <a:xfrm>
            <a:off x="8705088" y="1828800"/>
            <a:ext cx="1234440" cy="8046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7CDD8"/>
            </a:solidFill>
          </a:ln>
        </p:spPr>
        <p:txBody>
          <a:bodyPr/>
          <a:lstStyle/>
          <a:p/>
        </p:txBody>
      </p:sp>
      <p:sp>
        <p:nvSpPr>
          <p:cNvPr id="21" name="Text"/>
          <p:cNvSpPr txBox="1"/>
          <p:nvPr/>
        </p:nvSpPr>
        <p:spPr>
          <a:xfrm>
            <a:off x="8778240" y="1901952"/>
            <a:ext cx="1088136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logits</a:t>
            </a:r>
          </a:p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compare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0003536" y="2093976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800" b="1">
                <a:solidFill>
                  <a:srgbClr val="475467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3" name="Shape"/>
          <p:cNvSpPr/>
          <p:nvPr/>
        </p:nvSpPr>
        <p:spPr>
          <a:xfrm>
            <a:off x="10369296" y="1828800"/>
            <a:ext cx="1234440" cy="804672"/>
          </a:xfrm>
          <a:prstGeom prst="roundRect">
            <a:avLst/>
          </a:prstGeom>
          <a:solidFill>
            <a:srgbClr val="F0F9FF"/>
          </a:solidFill>
          <a:ln w="9525">
            <a:solidFill>
              <a:srgbClr val="C7CDD8"/>
            </a:solidFill>
          </a:ln>
        </p:spPr>
        <p:txBody>
          <a:bodyPr/>
          <a:lstStyle/>
          <a:p/>
        </p:txBody>
      </p:sp>
      <p:sp>
        <p:nvSpPr>
          <p:cNvPr id="24" name="Text"/>
          <p:cNvSpPr txBox="1"/>
          <p:nvPr/>
        </p:nvSpPr>
        <p:spPr>
          <a:xfrm>
            <a:off x="10442448" y="1901952"/>
            <a:ext cx="1088136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firmware /</a:t>
            </a:r>
          </a:p>
          <a:p>
            <a:pPr algn="ctr"/>
            <a:r>
              <a:rPr lang="zh-CN" sz="1200" b="1">
                <a:solidFill>
                  <a:srgbClr val="101828"/>
                </a:solidFill>
                <a:latin typeface="Microsoft YaHei"/>
                <a:ea typeface="Microsoft YaHei"/>
              </a:rPr>
              <a:t>CPU joint sim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713232" y="3246120"/>
            <a:ext cx="33832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 b="0">
                <a:solidFill>
                  <a:srgbClr val="344054"/>
                </a:solidFill>
                <a:latin typeface="Microsoft YaHei"/>
                <a:ea typeface="Microsoft YaHei"/>
              </a:rPr>
              <a:t>单元级</a:t>
            </a:r>
          </a:p>
          <a:p>
            <a:pPr algn="l"/>
            <a:r>
              <a:rPr lang="zh-CN" sz="1700" b="0">
                <a:solidFill>
                  <a:srgbClr val="344054"/>
                </a:solidFill>
                <a:latin typeface="Microsoft YaHei"/>
                <a:ea typeface="Microsoft YaHei"/>
              </a:rPr>
              <a:t>• requant</a:t>
            </a:r>
          </a:p>
          <a:p>
            <a:pPr algn="l"/>
            <a:r>
              <a:rPr lang="zh-CN" sz="1700" b="0">
                <a:solidFill>
                  <a:srgbClr val="344054"/>
                </a:solidFill>
                <a:latin typeface="Microsoft YaHei"/>
                <a:ea typeface="Microsoft YaHei"/>
              </a:rPr>
              <a:t>• PW array</a:t>
            </a:r>
          </a:p>
          <a:p>
            <a:pPr algn="l"/>
            <a:r>
              <a:rPr lang="zh-CN" sz="1700" b="0">
                <a:solidFill>
                  <a:srgbClr val="344054"/>
                </a:solidFill>
                <a:latin typeface="Microsoft YaHei"/>
                <a:ea typeface="Microsoft YaHei"/>
              </a:rPr>
              <a:t>• DW tile fusion</a:t>
            </a:r>
          </a:p>
          <a:p>
            <a:pPr algn="l"/>
            <a:r>
              <a:rPr lang="zh-CN" sz="1700" b="0">
                <a:solidFill>
                  <a:srgbClr val="344054"/>
                </a:solidFill>
                <a:latin typeface="Microsoft YaHei"/>
                <a:ea typeface="Microsoft YaHei"/>
              </a:rPr>
              <a:t>• Stem / GAP / FC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4480560" y="3246120"/>
            <a:ext cx="33832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 b="0">
                <a:solidFill>
                  <a:srgbClr val="344054"/>
                </a:solidFill>
                <a:latin typeface="Microsoft YaHei"/>
                <a:ea typeface="Microsoft YaHei"/>
              </a:rPr>
              <a:t>顶层级</a:t>
            </a:r>
          </a:p>
          <a:p>
            <a:pPr algn="l"/>
            <a:r>
              <a:rPr lang="zh-CN" sz="1700" b="0">
                <a:solidFill>
                  <a:srgbClr val="344054"/>
                </a:solidFill>
                <a:latin typeface="Microsoft YaHei"/>
                <a:ea typeface="Microsoft YaHei"/>
              </a:rPr>
              <a:t>• descriptor fetch</a:t>
            </a:r>
          </a:p>
          <a:p>
            <a:pPr algn="l"/>
            <a:r>
              <a:rPr lang="zh-CN" sz="1700" b="0">
                <a:solidFill>
                  <a:srgbClr val="344054"/>
                </a:solidFill>
                <a:latin typeface="Microsoft YaHei"/>
                <a:ea typeface="Microsoft YaHei"/>
              </a:rPr>
              <a:t>• SRAM tiled datapath</a:t>
            </a:r>
          </a:p>
          <a:p>
            <a:pPr algn="l"/>
            <a:r>
              <a:rPr lang="zh-CN" sz="1700" b="0">
                <a:solidFill>
                  <a:srgbClr val="344054"/>
                </a:solidFill>
                <a:latin typeface="Microsoft YaHei"/>
                <a:ea typeface="Microsoft YaHei"/>
              </a:rPr>
              <a:t>• fullnet smoke</a:t>
            </a:r>
          </a:p>
          <a:p>
            <a:pPr algn="l"/>
            <a:r>
              <a:rPr lang="zh-CN" sz="1700" b="0">
                <a:solidFill>
                  <a:srgbClr val="344054"/>
                </a:solidFill>
                <a:latin typeface="Microsoft YaHei"/>
                <a:ea typeface="Microsoft YaHei"/>
              </a:rPr>
              <a:t>• logits exact match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8183879" y="3246120"/>
            <a:ext cx="329184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 b="0">
                <a:solidFill>
                  <a:srgbClr val="344054"/>
                </a:solidFill>
                <a:latin typeface="Microsoft YaHei"/>
                <a:ea typeface="Microsoft YaHei"/>
              </a:rPr>
              <a:t>CPU 级</a:t>
            </a:r>
          </a:p>
          <a:p>
            <a:pPr algn="l"/>
            <a:r>
              <a:rPr lang="zh-CN" sz="1700" b="0">
                <a:solidFill>
                  <a:srgbClr val="344054"/>
                </a:solidFill>
                <a:latin typeface="Microsoft YaHei"/>
                <a:ea typeface="Microsoft YaHei"/>
              </a:rPr>
              <a:t>• custom start</a:t>
            </a:r>
          </a:p>
          <a:p>
            <a:pPr algn="l"/>
            <a:r>
              <a:rPr lang="zh-CN" sz="1700" b="0">
                <a:solidFill>
                  <a:srgbClr val="344054"/>
                </a:solidFill>
                <a:latin typeface="Microsoft YaHei"/>
                <a:ea typeface="Microsoft YaHei"/>
              </a:rPr>
              <a:t>• poll done</a:t>
            </a:r>
          </a:p>
          <a:p>
            <a:pPr algn="l"/>
            <a:r>
              <a:rPr lang="zh-CN" sz="1700" b="0">
                <a:solidFill>
                  <a:srgbClr val="344054"/>
                </a:solidFill>
                <a:latin typeface="Microsoft YaHei"/>
                <a:ea typeface="Microsoft YaHei"/>
              </a:rPr>
              <a:t>• stat cycles</a:t>
            </a:r>
          </a:p>
          <a:p>
            <a:pPr algn="l"/>
            <a:r>
              <a:rPr lang="zh-CN" sz="1700" b="0">
                <a:solidFill>
                  <a:srgbClr val="344054"/>
                </a:solidFill>
                <a:latin typeface="Microsoft YaHei"/>
                <a:ea typeface="Microsoft YaHei"/>
              </a:rPr>
              <a:t>• firmware argmax</a:t>
            </a:r>
          </a:p>
        </p:txBody>
      </p:sp>
      <p:sp>
        <p:nvSpPr>
          <p:cNvPr id="28" name="Shape"/>
          <p:cNvSpPr/>
          <p:nvPr/>
        </p:nvSpPr>
        <p:spPr>
          <a:xfrm>
            <a:off x="914400" y="5257800"/>
            <a:ext cx="996696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8A2B3"/>
            </a:solidFill>
          </a:ln>
        </p:spPr>
        <p:txBody>
          <a:bodyPr/>
          <a:lstStyle/>
          <a:p/>
        </p:txBody>
      </p:sp>
      <p:sp>
        <p:nvSpPr>
          <p:cNvPr id="29" name="Text"/>
          <p:cNvSpPr txBox="1"/>
          <p:nvPr/>
        </p:nvSpPr>
        <p:spPr>
          <a:xfrm>
            <a:off x="987552" y="5330952"/>
            <a:ext cx="9820656" cy="42062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800" b="1">
                <a:solidFill>
                  <a:srgbClr val="101828"/>
                </a:solidFill>
                <a:latin typeface="Microsoft YaHei"/>
                <a:ea typeface="Microsoft YaHei"/>
              </a:rPr>
              <a:t>验收核心: RTL 输出 10 个 logits 与 Python golden 逐元素一致，然后 CPU 看到相同 argmax。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2800" b="1">
                <a:solidFill>
                  <a:srgbClr val="101828"/>
                </a:solidFill>
                <a:latin typeface="Microsoft YaHei"/>
                <a:ea typeface="Microsoft YaHei"/>
              </a:rPr>
              <a:t>结果、综合状态与限制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30352" y="758952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200" b="0">
                <a:solidFill>
                  <a:srgbClr val="667085"/>
                </a:solidFill>
                <a:latin typeface="Microsoft YaHei"/>
                <a:ea typeface="Microsoft YaHei"/>
              </a:rPr>
              <a:t>功能闭环已跑通；真实综合工具本机未安装，已补可复现实验脚本</a:t>
            </a:r>
          </a:p>
        </p:txBody>
      </p:sp>
      <p:sp>
        <p:nvSpPr>
          <p:cNvPr id="5" name="Shape"/>
          <p:cNvSpPr/>
          <p:nvPr/>
        </p:nvSpPr>
        <p:spPr>
          <a:xfrm>
            <a:off x="685800" y="1188720"/>
            <a:ext cx="1965960" cy="749808"/>
          </a:xfrm>
          <a:prstGeom prst="roundRect">
            <a:avLst/>
          </a:prstGeom>
          <a:solidFill>
            <a:srgbClr val="EAF6EF"/>
          </a:solidFill>
          <a:ln w="9525">
            <a:solidFill>
              <a:srgbClr val="A6D7B8"/>
            </a:solidFill>
          </a:ln>
        </p:spPr>
        <p:txBody>
          <a:bodyPr/>
          <a:lstStyle/>
          <a:p/>
        </p:txBody>
      </p:sp>
      <p:sp>
        <p:nvSpPr>
          <p:cNvPr id="6" name="Text"/>
          <p:cNvSpPr txBox="1"/>
          <p:nvPr/>
        </p:nvSpPr>
        <p:spPr>
          <a:xfrm>
            <a:off x="758952" y="1261872"/>
            <a:ext cx="1819656" cy="6035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800" b="1">
                <a:solidFill>
                  <a:srgbClr val="14532D"/>
                </a:solidFill>
                <a:latin typeface="Microsoft YaHei"/>
                <a:ea typeface="Microsoft YaHei"/>
              </a:rPr>
              <a:t>1,085,562</a:t>
            </a:r>
          </a:p>
          <a:p>
            <a:pPr algn="ctr"/>
            <a:r>
              <a:rPr lang="zh-CN" sz="1800" b="1">
                <a:solidFill>
                  <a:srgbClr val="14532D"/>
                </a:solidFill>
                <a:latin typeface="Microsoft YaHei"/>
                <a:ea typeface="Microsoft YaHei"/>
              </a:rPr>
              <a:t>hardware cycles</a:t>
            </a:r>
          </a:p>
        </p:txBody>
      </p:sp>
      <p:sp>
        <p:nvSpPr>
          <p:cNvPr id="7" name="Shape"/>
          <p:cNvSpPr/>
          <p:nvPr/>
        </p:nvSpPr>
        <p:spPr>
          <a:xfrm>
            <a:off x="2926080" y="1188720"/>
            <a:ext cx="1965960" cy="749808"/>
          </a:xfrm>
          <a:prstGeom prst="roundRect">
            <a:avLst/>
          </a:prstGeom>
          <a:solidFill>
            <a:srgbClr val="EAF0FF"/>
          </a:solidFill>
          <a:ln w="9525">
            <a:solidFill>
              <a:srgbClr val="B7C9FF"/>
            </a:solidFill>
          </a:ln>
        </p:spPr>
        <p:txBody>
          <a:bodyPr/>
          <a:lstStyle/>
          <a:p/>
        </p:txBody>
      </p:sp>
      <p:sp>
        <p:nvSpPr>
          <p:cNvPr id="8" name="Text"/>
          <p:cNvSpPr txBox="1"/>
          <p:nvPr/>
        </p:nvSpPr>
        <p:spPr>
          <a:xfrm>
            <a:off x="2999232" y="1261872"/>
            <a:ext cx="1819656" cy="6035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800" b="1">
                <a:solidFill>
                  <a:srgbClr val="1D3D8F"/>
                </a:solidFill>
                <a:latin typeface="Microsoft YaHei"/>
                <a:ea typeface="Microsoft YaHei"/>
              </a:rPr>
              <a:t>100%</a:t>
            </a:r>
          </a:p>
          <a:p>
            <a:pPr algn="ctr"/>
            <a:r>
              <a:rPr lang="zh-CN" sz="1800" b="1">
                <a:solidFill>
                  <a:srgbClr val="1D3D8F"/>
                </a:solidFill>
                <a:latin typeface="Microsoft YaHei"/>
                <a:ea typeface="Microsoft YaHei"/>
              </a:rPr>
              <a:t>logit match</a:t>
            </a:r>
          </a:p>
        </p:txBody>
      </p:sp>
      <p:sp>
        <p:nvSpPr>
          <p:cNvPr id="9" name="Shape"/>
          <p:cNvSpPr/>
          <p:nvPr/>
        </p:nvSpPr>
        <p:spPr>
          <a:xfrm>
            <a:off x="5166360" y="1188720"/>
            <a:ext cx="1965960" cy="749808"/>
          </a:xfrm>
          <a:prstGeom prst="roundRect">
            <a:avLst/>
          </a:prstGeom>
          <a:solidFill>
            <a:srgbClr val="FFF5E6"/>
          </a:solidFill>
          <a:ln w="9525">
            <a:solidFill>
              <a:srgbClr val="FFD89B"/>
            </a:solidFill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5239512" y="1261872"/>
            <a:ext cx="1819656" cy="6035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800" b="1">
                <a:solidFill>
                  <a:srgbClr val="7A4100"/>
                </a:solidFill>
                <a:latin typeface="Microsoft YaHei"/>
                <a:ea typeface="Microsoft YaHei"/>
              </a:rPr>
              <a:t>341M</a:t>
            </a:r>
          </a:p>
          <a:p>
            <a:pPr algn="ctr"/>
            <a:r>
              <a:rPr lang="zh-CN" sz="1800" b="1">
                <a:solidFill>
                  <a:srgbClr val="7A4100"/>
                </a:solidFill>
                <a:latin typeface="Microsoft YaHei"/>
                <a:ea typeface="Microsoft YaHei"/>
              </a:rPr>
              <a:t>RV32I estimate</a:t>
            </a:r>
          </a:p>
        </p:txBody>
      </p:sp>
      <p:sp>
        <p:nvSpPr>
          <p:cNvPr id="11" name="Shape"/>
          <p:cNvSpPr/>
          <p:nvPr/>
        </p:nvSpPr>
        <p:spPr>
          <a:xfrm>
            <a:off x="7406640" y="1188720"/>
            <a:ext cx="1965960" cy="749808"/>
          </a:xfrm>
          <a:prstGeom prst="roundRect">
            <a:avLst/>
          </a:prstGeom>
          <a:solidFill>
            <a:srgbClr val="FDF2FA"/>
          </a:solidFill>
          <a:ln w="9525">
            <a:solidFill>
              <a:srgbClr val="FCCEEE"/>
            </a:solidFill>
          </a:ln>
        </p:spPr>
        <p:txBody>
          <a:bodyPr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7479792" y="1261872"/>
            <a:ext cx="1819656" cy="6035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800" b="1">
                <a:solidFill>
                  <a:srgbClr val="851651"/>
                </a:solidFill>
                <a:latin typeface="Microsoft YaHei"/>
                <a:ea typeface="Microsoft YaHei"/>
              </a:rPr>
              <a:t>314x</a:t>
            </a:r>
          </a:p>
          <a:p>
            <a:pPr algn="ctr"/>
            <a:r>
              <a:rPr lang="zh-CN" sz="1800" b="1">
                <a:solidFill>
                  <a:srgbClr val="851651"/>
                </a:solidFill>
                <a:latin typeface="Microsoft YaHei"/>
                <a:ea typeface="Microsoft YaHei"/>
              </a:rPr>
              <a:t>speedup estimate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786384" y="2423160"/>
            <a:ext cx="502920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 b="0">
                <a:solidFill>
                  <a:srgbClr val="344054"/>
                </a:solidFill>
                <a:latin typeface="Microsoft YaHei"/>
                <a:ea typeface="Microsoft YaHei"/>
              </a:rPr>
              <a:t>真实综合尝试</a:t>
            </a:r>
          </a:p>
          <a:p>
            <a:pPr algn="l"/>
            <a:r>
              <a:rPr lang="zh-CN" sz="1700" b="0">
                <a:solidFill>
                  <a:srgbClr val="344054"/>
                </a:solidFill>
                <a:latin typeface="Microsoft YaHei"/>
                <a:ea typeface="Microsoft YaHei"/>
              </a:rPr>
              <a:t>• Windows PATH: Yosys/Vivado not found</a:t>
            </a:r>
          </a:p>
          <a:p>
            <a:pPr algn="l"/>
            <a:r>
              <a:rPr lang="zh-CN" sz="1700" b="0">
                <a:solidFill>
                  <a:srgbClr val="344054"/>
                </a:solidFill>
                <a:latin typeface="Microsoft YaHei"/>
                <a:ea typeface="Microsoft YaHei"/>
              </a:rPr>
              <a:t>• WSL: yosys/vivado command not found</a:t>
            </a:r>
          </a:p>
          <a:p>
            <a:pPr algn="l"/>
            <a:r>
              <a:rPr lang="zh-CN" sz="1700" b="0">
                <a:solidFill>
                  <a:srgbClr val="344054"/>
                </a:solidFill>
                <a:latin typeface="Microsoft YaHei"/>
                <a:ea typeface="Microsoft YaHei"/>
              </a:rPr>
              <a:t>• 已新增 scripts/run_synthesis_yosys.sh</a:t>
            </a:r>
          </a:p>
          <a:p>
            <a:pPr algn="l"/>
            <a:r>
              <a:rPr lang="zh-CN" sz="1700" b="0">
                <a:solidFill>
                  <a:srgbClr val="344054"/>
                </a:solidFill>
                <a:latin typeface="Microsoft YaHei"/>
                <a:ea typeface="Microsoft YaHei"/>
              </a:rPr>
              <a:t>• 报告: build/reports/synthesis_initial.md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6400800" y="2423160"/>
            <a:ext cx="452628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00" b="0">
                <a:solidFill>
                  <a:srgbClr val="344054"/>
                </a:solidFill>
                <a:latin typeface="Microsoft YaHei"/>
                <a:ea typeface="Microsoft YaHei"/>
              </a:rPr>
              <a:t>当前限制</a:t>
            </a:r>
          </a:p>
          <a:p>
            <a:pPr algn="l"/>
            <a:r>
              <a:rPr lang="zh-CN" sz="1700" b="0">
                <a:solidFill>
                  <a:srgbClr val="344054"/>
                </a:solidFill>
                <a:latin typeface="Microsoft YaHei"/>
                <a:ea typeface="Microsoft YaHei"/>
              </a:rPr>
              <a:t>• word-per-int8 仿真内存格式</a:t>
            </a:r>
          </a:p>
          <a:p>
            <a:pPr algn="l"/>
            <a:r>
              <a:rPr lang="zh-CN" sz="1700" b="0">
                <a:solidFill>
                  <a:srgbClr val="344054"/>
                </a:solidFill>
                <a:latin typeface="Microsoft YaHei"/>
                <a:ea typeface="Microsoft YaHei"/>
              </a:rPr>
              <a:t>• SRAM/BRAM inference 待综合确认</a:t>
            </a:r>
          </a:p>
          <a:p>
            <a:pPr algn="l"/>
            <a:r>
              <a:rPr lang="zh-CN" sz="1700" b="0">
                <a:solidFill>
                  <a:srgbClr val="344054"/>
                </a:solidFill>
                <a:latin typeface="Microsoft YaHei"/>
                <a:ea typeface="Microsoft YaHei"/>
              </a:rPr>
              <a:t>• 单时钟，未做 CDC</a:t>
            </a:r>
          </a:p>
          <a:p>
            <a:pPr algn="l"/>
            <a:r>
              <a:rPr lang="zh-CN" sz="1700" b="0">
                <a:solidFill>
                  <a:srgbClr val="344054"/>
                </a:solidFill>
                <a:latin typeface="Microsoft YaHei"/>
                <a:ea typeface="Microsoft YaHei"/>
              </a:rPr>
              <a:t>• 约 50% checkpoint 用于功能验证</a:t>
            </a:r>
          </a:p>
        </p:txBody>
      </p:sp>
      <p:sp>
        <p:nvSpPr>
          <p:cNvPr id="15" name="Shape"/>
          <p:cNvSpPr/>
          <p:nvPr/>
        </p:nvSpPr>
        <p:spPr>
          <a:xfrm>
            <a:off x="685800" y="4709160"/>
            <a:ext cx="10515600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822960" y="5074920"/>
            <a:ext cx="101498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900" b="1">
                <a:solidFill>
                  <a:srgbClr val="101828"/>
                </a:solidFill>
                <a:latin typeface="Microsoft YaHei"/>
                <a:ea typeface="Microsoft YaHei"/>
              </a:rPr>
              <a:t>下一步: 跑真实 FPGA synthesis，确认 BRAM/DSP/timing；再做 requant 流水化、PW 控制复制、packed NHWC loader、QAT/calibration。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V32I CNN Theme">
  <a:themeElements>
    <a:clrScheme name="Custom">
      <a:dk1>
        <a:srgbClr val="101828"/>
      </a:dk1>
      <a:lt1>
        <a:srgbClr val="FFFFFF"/>
      </a:lt1>
      <a:dk2>
        <a:srgbClr val="344054"/>
      </a:dk2>
      <a:lt2>
        <a:srgbClr val="F7F8FA"/>
      </a:lt2>
      <a:accent1>
        <a:srgbClr val="175CD3"/>
      </a:accent1>
      <a:accent2>
        <a:srgbClr val="039855"/>
      </a:accent2>
      <a:accent3>
        <a:srgbClr val="F79009"/>
      </a:accent3>
      <a:accent4>
        <a:srgbClr val="C11574"/>
      </a:accent4>
      <a:accent5>
        <a:srgbClr val="667085"/>
      </a:accent5>
      <a:accent6>
        <a:srgbClr val="101828"/>
      </a:accent6>
      <a:hlink>
        <a:srgbClr val="175CD3"/>
      </a:hlink>
      <a:folHlink>
        <a:srgbClr val="6941C6"/>
      </a:folHlink>
    </a:clrScheme>
    <a:fontScheme name="Custom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Custom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/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OpenXML Generator</Application>
  <PresentationFormat>On-screen Show (16:9)</PresentationFormat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RV32I int8 CNN Accelerator Project</dc:title>
  <dc:creator>Codex</dc:creator>
  <cp:lastModifiedBy>Codex</cp:lastModifiedBy>
</cp:coreProperties>
</file>